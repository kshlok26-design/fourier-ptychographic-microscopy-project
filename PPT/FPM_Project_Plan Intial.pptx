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6" r:id="rId10"/>
    <p:sldId id="263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2460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906E4-23F7-2B50-BD07-78D19AD81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153452-DBDF-2945-92F7-30710ED0E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C4FB72-EAEC-2C1D-258F-DDF0F12B00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EF216-FABE-D61D-2646-8B0BEA7FD5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679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0D4CA-895F-63D2-5D12-300C0F16A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A6F23-3E3A-B9B8-E7B3-EE7E4DCB0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637B74-572E-2ECA-0EAF-FDE91900B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68C2C-94D3-7724-FACD-A8C3B36CD1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858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A0F09-9E18-F030-7B3E-8009CA4A7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6E80F-5437-3492-6238-A82B7DDE3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740065-44E8-4A7D-7B51-D8DDE8BB7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21B6E-5A3D-3199-287D-CE73FDCA2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714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Fourier Ptychographic Microscopy 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67767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(FPM) with  Raspberry Pi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552700"/>
            <a:ext cx="1645920" cy="36576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759075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ABBCC"/>
                </a:solidFill>
              </a:rPr>
              <a:t>Project Plan Presentation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chemeClr val="accent2">
                    <a:lumMod val="75000"/>
                  </a:schemeClr>
                </a:solidFill>
              </a:rPr>
              <a:t>Team Members: Apurva Kulkarni · Shlok Khaire</a:t>
            </a:r>
            <a:endParaRPr lang="en-US" sz="1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37515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Chair for Computational Sensing &amp; Communications Engineering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Universität Siegen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Presentation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2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21208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1208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Project Title &amp; Summary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Problem statement, motivation, and expected learning outcomes.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64608" y="960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3258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Background &amp; Significance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830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Why FPM is challenging, useful, and research-relevant.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432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21208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1208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Resources &amp; Setup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Hardware, software, reconstruction pipeline, and current prototype.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41148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864608" y="2926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CA8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291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Goals &amp; Deliverables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749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6677"/>
                </a:solidFill>
              </a:rPr>
              <a:t>Plan to achieve , hope to achieve , and weekly schedule.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Title &amp;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3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</a:rPr>
              <a:t>Fourier Ptychographic Microscopy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8229600" cy="1463040"/>
          </a:xfrm>
          <a:prstGeom prst="rect">
            <a:avLst/>
          </a:prstGeom>
          <a:solidFill>
            <a:srgbClr val="EEF4FB"/>
          </a:solidFill>
          <a:ln w="10160">
            <a:solidFill>
              <a:srgbClr val="C8DC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Summary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1200" dirty="0"/>
              <a:t>This project aims to build a low-cost, miniature Fourier Ptychographic Microscope using a Raspberry Pi, a standard camera module, and a programmable LED array. By capturing a sequence of images under varying illumination angles and applying a computational reconstruction algorithm, we will learn how to bypass the physical resolution limits of a lens to achieve high-resolution, wide-field-of-view digital imaging.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86100"/>
            <a:ext cx="3931920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14350" y="313817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Problem Statement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4350" y="3464560"/>
            <a:ext cx="3618738" cy="953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45566"/>
                </a:solidFill>
              </a:rPr>
              <a:t>Traditional microscopy is limited by a trade-off where lenses cannot provide both high resolution and a wide field of view simultaneously. This project overcomes this barrier by using low-cost hardware and computational imaging to achieve sub-micron resolution across a large area in a portable, affordable format.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4023360" cy="1600200"/>
          </a:xfrm>
          <a:prstGeom prst="rect">
            <a:avLst/>
          </a:prstGeom>
          <a:solidFill>
            <a:srgbClr val="F4F6F8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Expected Learning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4315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445566"/>
                </a:solidFill>
              </a:rPr>
              <a:t>This project provides hands-on experience in computational imaging by implementing phase-retrieval algorithms to synthesize high-resolution images from Fourier-domain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Background &amp; Significance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4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54864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5800" y="79552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</a:rPr>
              <a:t>Why FPM is Challenging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1115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Requires microsecond precision between the Raspberry Pi GPIO triggers and the camera shutter to ensure accurate illumination angles.</a:t>
            </a:r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Reconstructions are highly sensitive to external noise, such as ambient light interference and mechanical vibrations in the 3D-printed frame.</a:t>
            </a:r>
          </a:p>
        </p:txBody>
      </p:sp>
      <p:sp>
        <p:nvSpPr>
          <p:cNvPr id="10" name="Text 8"/>
          <p:cNvSpPr/>
          <p:nvPr/>
        </p:nvSpPr>
        <p:spPr>
          <a:xfrm>
            <a:off x="685800" y="16276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>
                <a:solidFill>
                  <a:srgbClr val="445566"/>
                </a:solidFill>
              </a:rPr>
              <a:t>Computational cost scales with image count and resolution targets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75688"/>
            <a:ext cx="54864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1214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</a:rPr>
              <a:t>Why FPM is Useful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5800" y="24414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>
                <a:solidFill>
                  <a:srgbClr val="445566"/>
                </a:solidFill>
              </a:rPr>
              <a:t>Achieves high-definition imaging with a low-NA objective — field of view and resolution simultaneously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974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Unlike standard bright-field microscopy, FPM allows for the recovery of the sample's phase information.</a:t>
            </a:r>
          </a:p>
        </p:txBody>
      </p:sp>
      <p:sp>
        <p:nvSpPr>
          <p:cNvPr id="15" name="Text 13"/>
          <p:cNvSpPr/>
          <p:nvPr/>
        </p:nvSpPr>
        <p:spPr>
          <a:xfrm>
            <a:off x="685800" y="295351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We can computationally correct lens distortions and blurring by performing reconstructions in the Fourier domain. </a:t>
            </a:r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54864" cy="10972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85800" y="34472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340"/>
                </a:solidFill>
              </a:rPr>
              <a:t>Research Relevance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3767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Building on the foundational "Frequency Stitching" methods to move toward faster, more robust phase retrieval. </a:t>
            </a:r>
          </a:p>
        </p:txBody>
      </p:sp>
      <p:sp>
        <p:nvSpPr>
          <p:cNvPr id="19" name="Text 17"/>
          <p:cNvSpPr/>
          <p:nvPr/>
        </p:nvSpPr>
        <p:spPr>
          <a:xfrm>
            <a:off x="685800" y="4023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Combines optical physics, Python programming, and signal processing—the core pillars of modern computational sensing.</a:t>
            </a:r>
          </a:p>
        </p:txBody>
      </p:sp>
      <p:sp>
        <p:nvSpPr>
          <p:cNvPr id="20" name="Text 18"/>
          <p:cNvSpPr/>
          <p:nvPr/>
        </p:nvSpPr>
        <p:spPr>
          <a:xfrm>
            <a:off x="685800" y="4279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1B6CA8"/>
                </a:solidFill>
              </a:rPr>
              <a:t>—  </a:t>
            </a:r>
            <a:r>
              <a:rPr lang="en-US" sz="1000" dirty="0"/>
              <a:t>This setup serves as a baseline for future explorations into deep-learning-based image enhancement and real-time digital pathology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Resources &amp; Setup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5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Hardware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3740150" cy="17482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Raspberry Pi  (compute + LED control)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Unicorn HAT HD — 16×16 LED matrix for angle-varying illumination.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Raspberry Pi Camera 2 Module.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050" dirty="0"/>
              <a:t>3D-printed optical mount and alignment fixture.</a:t>
            </a:r>
          </a:p>
          <a:p>
            <a:pPr algn="just">
              <a:lnSpc>
                <a:spcPct val="150000"/>
              </a:lnSpc>
            </a:pPr>
            <a:endParaRPr lang="en-US" sz="1050" dirty="0"/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050" dirty="0"/>
          </a:p>
          <a:p>
            <a:pPr algn="just">
              <a:lnSpc>
                <a:spcPct val="150000"/>
              </a:lnSpc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8178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340"/>
                </a:solidFill>
              </a:rPr>
              <a:t>Software &amp; References</a:t>
            </a:r>
            <a:endParaRPr lang="en-US" sz="14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09160" y="749808"/>
            <a:ext cx="4023360" cy="3931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709160" y="466344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899AA"/>
                </a:solidFill>
              </a:rPr>
              <a:t>Current prototype — Raspberry Pi + Unicorn HAT HD + Camera Module on optical mount</a:t>
            </a:r>
            <a:endParaRPr lang="en-US" sz="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81A57E-78B5-3444-35FE-290373445EA7}"/>
              </a:ext>
            </a:extLst>
          </p:cNvPr>
          <p:cNvSpPr txBox="1"/>
          <p:nvPr/>
        </p:nvSpPr>
        <p:spPr>
          <a:xfrm>
            <a:off x="365760" y="3209094"/>
            <a:ext cx="384048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Python(picamera2, </a:t>
            </a:r>
            <a:r>
              <a:rPr lang="en-IN" sz="1050" dirty="0" err="1"/>
              <a:t>unicornhathd</a:t>
            </a:r>
            <a:r>
              <a:rPr lang="en-IN" sz="105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Low-cost, sub-micron resolution, wide-field computational microscopy using open-source hardware by </a:t>
            </a:r>
            <a:r>
              <a:rPr lang="en-IN" sz="1050" dirty="0" err="1"/>
              <a:t>Aidukas</a:t>
            </a:r>
            <a:r>
              <a:rPr lang="en-IN" sz="1050" dirty="0"/>
              <a:t> et. 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Miniature Fourier ptychography microscope using Raspberry Pi camera and hardware by Konda et. 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50" dirty="0"/>
              <a:t>Low-Cost Fourier Ptychography Microscope Kit by Guzmán et. 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Goals &amp; Deliverables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6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457200" y="749808"/>
            <a:ext cx="3931920" cy="347472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019300"/>
            <a:ext cx="3749040" cy="2008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Python script to automate the sequential triggering of the LED matrix and synchronized camera captures.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Implementation of a basic FPM algorithm to reconstruct a high-resolution intensity image.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Demonstrable improvement in resolution on a standard target compared to raw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A complete project webpage with assembly instructions and a basic user manual.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800600" y="749808"/>
            <a:ext cx="3931920" cy="34747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4800600" y="749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7716" y="1318260"/>
            <a:ext cx="3749040" cy="164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Guiding mechanism for correct and repetitive placement of slide below the camera.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Robust Denoising: Integrate advanced software filters to computationally remove camera grain and extract crystal-clear images from low-light signals.</a:t>
            </a:r>
          </a:p>
          <a:p>
            <a:pPr algn="just"/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66744" y="749808"/>
            <a:ext cx="45719" cy="337016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B2BC6EC-FA8A-DBDB-E241-0C12F48D37BA}"/>
              </a:ext>
            </a:extLst>
          </p:cNvPr>
          <p:cNvSpPr txBox="1"/>
          <p:nvPr/>
        </p:nvSpPr>
        <p:spPr>
          <a:xfrm>
            <a:off x="457200" y="764524"/>
            <a:ext cx="15919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Plan to Achieve  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7E0981-1617-96C3-C61C-13660465C252}"/>
              </a:ext>
            </a:extLst>
          </p:cNvPr>
          <p:cNvSpPr txBox="1"/>
          <p:nvPr/>
        </p:nvSpPr>
        <p:spPr>
          <a:xfrm>
            <a:off x="4817716" y="781657"/>
            <a:ext cx="1911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</a:rPr>
              <a:t>Hope to Achieve </a:t>
            </a:r>
            <a:endParaRPr lang="en-US" sz="1600" dirty="0"/>
          </a:p>
          <a:p>
            <a:endParaRPr lang="en-IN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Hardware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7 / 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633A2-9B39-07EF-85AE-ABFB0FB2EF53}"/>
              </a:ext>
            </a:extLst>
          </p:cNvPr>
          <p:cNvSpPr txBox="1"/>
          <p:nvPr/>
        </p:nvSpPr>
        <p:spPr>
          <a:xfrm>
            <a:off x="488950" y="1060450"/>
            <a:ext cx="8280400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Calibration of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to sample distance Z</a:t>
            </a:r>
            <a:r>
              <a:rPr lang="en-IN" sz="1000" dirty="0"/>
              <a:t>LED</a:t>
            </a:r>
            <a:r>
              <a:rPr lang="en-IN" sz="1600" dirty="0"/>
              <a:t>= 64mm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Working distance( sample to camera sensor)= 6-7mm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pitch=3.3mm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NA</a:t>
            </a:r>
            <a:r>
              <a:rPr lang="en-IN" sz="1100" dirty="0" err="1"/>
              <a:t>obj</a:t>
            </a:r>
            <a:r>
              <a:rPr lang="en-IN" sz="1600" dirty="0"/>
              <a:t>=0.15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Pixel size = 1.12 µm × 1.12 µm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Sensor resolution= 3280 × 2464 pixels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Magnification M =1.2 x </a:t>
            </a:r>
            <a:br>
              <a:rPr lang="en-IN" sz="1600" dirty="0"/>
            </a:br>
            <a:r>
              <a:rPr lang="en-IN" sz="1600" dirty="0"/>
              <a:t>Calculated using </a:t>
            </a:r>
            <a:r>
              <a:rPr lang="en-IN" sz="1600" dirty="0" err="1"/>
              <a:t>imagej</a:t>
            </a:r>
            <a:r>
              <a:rPr lang="en-IN" sz="1600" dirty="0"/>
              <a:t> software trying to resolve 81LP/mm on Ronchi rulings.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71F74B-F02A-5C52-AB03-E34D6E26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2C463C7-407B-7031-33FB-9A22907F99CA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97C6361-11FB-2297-62E7-50DE91C7BA44}"/>
              </a:ext>
            </a:extLst>
          </p:cNvPr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Software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F9CCB1D-3C4A-D159-8245-04FBC3A69F06}"/>
              </a:ext>
            </a:extLst>
          </p:cNvPr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7 / 8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611846E-4FCA-FDB0-F5F2-EF16B93091EC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E6465-72E1-BD78-608A-9371CE77BC0C}"/>
              </a:ext>
            </a:extLst>
          </p:cNvPr>
          <p:cNvSpPr txBox="1"/>
          <p:nvPr/>
        </p:nvSpPr>
        <p:spPr>
          <a:xfrm>
            <a:off x="488950" y="1060450"/>
            <a:ext cx="82804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      Pre-Processing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Dark Subtract- To remove camera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distances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LED exposure normalisation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Demosaiced Green channel</a:t>
            </a:r>
            <a:br>
              <a:rPr lang="en-IN" sz="1600" dirty="0"/>
            </a:br>
            <a:br>
              <a:rPr lang="en-IN" sz="1600" dirty="0"/>
            </a:br>
            <a:r>
              <a:rPr lang="en-IN" sz="1600" b="1" dirty="0"/>
              <a:t>Reconstruction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Initialize the high-resolution complex field and pupil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 Fourier Transforms for spatial-to-frequency domain mapping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Enforce amplitude constraints using the captured LED image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Update the object spectrum and correct aberrations (EPRY)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Iterate the phase retrieval process across all LED illumination angles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Extract the final high-resolution amplitude and phase reconstructions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83369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C37876-5C4B-DB23-9901-A5D6B631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4A1C1C5-D174-637D-4F54-BD3CE00E47D8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C670EAB-004B-4DC8-CAED-C3C1AEEC3F08}"/>
              </a:ext>
            </a:extLst>
          </p:cNvPr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Schedule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4FBBB3-D220-D9AC-6656-E20B86BB21FE}"/>
              </a:ext>
            </a:extLst>
          </p:cNvPr>
          <p:cNvSpPr/>
          <p:nvPr/>
        </p:nvSpPr>
        <p:spPr>
          <a:xfrm>
            <a:off x="8046720" y="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9BB"/>
                </a:solidFill>
              </a:rPr>
              <a:t>7 / 8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1E3EAB6-9BBB-B779-ECB6-2EF4B4F51D13}"/>
              </a:ext>
            </a:extLst>
          </p:cNvPr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899AA"/>
                </a:solidFill>
              </a:rPr>
              <a:t>CHAIR FOR COMPUTATIONAL SENSING &amp; COMMUNICATIONS ENGINEERING · SIEGEN UNIVERSITY</a:t>
            </a:r>
            <a:endParaRPr lang="en-US" sz="7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953AC93-C7C6-1A71-7752-8B2E671D34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66563" y="979382"/>
            <a:ext cx="7331287" cy="371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1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Sample Acquired Images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BB"/>
                </a:solidFill>
              </a:rPr>
              <a:t>Representative captures from current hardware prototype 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737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7799"/>
                </a:solidFill>
              </a:rPr>
              <a:t>[Insert image]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46120" y="1143000"/>
            <a:ext cx="2651760" cy="1737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46120" y="1600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7799"/>
                </a:solidFill>
              </a:rPr>
              <a:t>[Insert image]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2651760" cy="1737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65760" y="3108960"/>
            <a:ext cx="2651760" cy="1737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7799"/>
                </a:solidFill>
              </a:rPr>
              <a:t>[Insert 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4526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LED angle 45°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3108960"/>
            <a:ext cx="2651760" cy="1737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4612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7799"/>
                </a:solidFill>
              </a:rPr>
              <a:t>[Insert 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46120" y="4526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Composite / overlay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26480" y="3108960"/>
            <a:ext cx="2651760" cy="1737360"/>
          </a:xfrm>
          <a:prstGeom prst="rect">
            <a:avLst/>
          </a:prstGeom>
          <a:solidFill>
            <a:srgbClr val="1E2D45"/>
          </a:solidFill>
          <a:ln w="12700">
            <a:solidFill>
              <a:srgbClr val="2E4A6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26480" y="35661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57799"/>
                </a:solidFill>
              </a:rPr>
              <a:t>[Insert image]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4526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99BB"/>
                </a:solidFill>
              </a:rPr>
              <a:t>Reconstructed output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0" y="491947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45566"/>
                </a:solidFill>
              </a:rPr>
              <a:t>Chair for Computational Sensing &amp; Communications Engineering · Universität Siegen</a:t>
            </a:r>
            <a:endParaRPr lang="en-US" sz="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3297001-F618-A833-5EB2-C9BB6F0F5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05" y="1252728"/>
            <a:ext cx="1906270" cy="151961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9038B99-7DF4-1561-0F0F-D72A9234E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7107" y="1249013"/>
            <a:ext cx="2089785" cy="1567339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A1CB7CF-510A-630B-B041-9825CA11A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211580"/>
            <a:ext cx="2103120" cy="157734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E360F2B-D4B9-E84A-34FB-61CBDE8BE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05" y="3215045"/>
            <a:ext cx="2040467" cy="153035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71140AF-5F84-E668-B34F-CB8DCC930B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9545" y="3222672"/>
            <a:ext cx="2047347" cy="153551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A9357A4-7ABC-6382-F79A-7DCEC1FA0E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8686" y="3209885"/>
            <a:ext cx="2047347" cy="15355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CE29F9-A487-ECA6-56B4-95382FE61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>
            <a:extLst>
              <a:ext uri="{FF2B5EF4-FFF2-40B4-BE49-F238E27FC236}">
                <a16:creationId xmlns:a16="http://schemas.microsoft.com/office/drawing/2014/main" id="{5DA13107-B3EE-369B-9796-A294EB675CED}"/>
              </a:ext>
            </a:extLst>
          </p:cNvPr>
          <p:cNvSpPr/>
          <p:nvPr/>
        </p:nvSpPr>
        <p:spPr>
          <a:xfrm>
            <a:off x="640080" y="437515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Chair for Computational Sensing &amp; Communications Engineering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6677AA"/>
                </a:solidFill>
              </a:rPr>
              <a:t>Universität Siegen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81225-595E-6835-3428-D72FE71A1874}"/>
              </a:ext>
            </a:extLst>
          </p:cNvPr>
          <p:cNvSpPr txBox="1"/>
          <p:nvPr/>
        </p:nvSpPr>
        <p:spPr>
          <a:xfrm>
            <a:off x="1530350" y="1648420"/>
            <a:ext cx="6083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5400" dirty="0">
                <a:solidFill>
                  <a:schemeClr val="bg1">
                    <a:lumMod val="95000"/>
                  </a:schemeClr>
                </a:solidFill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3131264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924</Words>
  <Application>Microsoft Office PowerPoint</Application>
  <PresentationFormat>On-screen Show (16:9)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FPM Project Plan</dc:title>
  <dc:subject>PptxGenJS Presentation</dc:subject>
  <dc:creator>PptxGenJS</dc:creator>
  <cp:lastModifiedBy>Shlok Khaire</cp:lastModifiedBy>
  <cp:revision>69</cp:revision>
  <dcterms:created xsi:type="dcterms:W3CDTF">2026-05-12T15:40:10Z</dcterms:created>
  <dcterms:modified xsi:type="dcterms:W3CDTF">2026-06-14T09:49:49Z</dcterms:modified>
</cp:coreProperties>
</file>