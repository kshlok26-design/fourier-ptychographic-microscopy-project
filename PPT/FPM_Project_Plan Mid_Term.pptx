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70" r:id="rId10"/>
    <p:sldId id="269" r:id="rId11"/>
    <p:sldId id="263" r:id="rId12"/>
    <p:sldId id="266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460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06E4-23F7-2B50-BD07-78D19AD8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53452-DBDF-2945-92F7-30710ED0E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4FB72-EAEC-2C1D-258F-DDF0F12B0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EF216-FABE-D61D-2646-8B0BEA7FD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67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C883-E6DE-696D-309C-8014FC0A4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96231-F0D1-A710-8AE1-56007DF4B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2E824-2E06-7F1B-FE00-326C99985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EFAF-BF2D-D2E7-AC4E-EECB0C16A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63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E0B5-6051-4EBB-89C8-289D60CC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9530D-44E0-0737-F213-B31E1F47D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12CA6-2B46-1FEA-D39B-C382810CA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66D7B-DCFE-857B-41AD-A27B824D3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63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D4CA-895F-63D2-5D12-300C0F16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A6F23-3E3A-B9B8-E7B3-EE7E4DCB0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37B74-572E-2ECA-0EAF-FDE91900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68C2C-94D3-7724-FACD-A8C3B36CD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85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A0F09-9E18-F030-7B3E-8009CA4A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6E80F-5437-3492-6238-A82B7DDE3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40065-44E8-4A7D-7B51-D8DDE8BB7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21B6E-5A3D-3199-287D-CE73FDCA2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14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Fourier Ptychographic Microscopy 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67767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(FPM) with  Raspberry Pi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552700"/>
            <a:ext cx="164592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75907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BBCC"/>
                </a:solidFill>
              </a:rPr>
              <a:t>Project Plan 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accent2">
                    <a:lumMod val="75000"/>
                  </a:schemeClr>
                </a:solidFill>
              </a:rPr>
              <a:t>Team Members: Apurva Kulkarni · Shlok Khaire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37515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Chair for Computational Sensing &amp; Communications Engineering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Universität Siegen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Presentation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2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Project Title &amp;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Problem statement, motivation, and expected learning outcomes.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Background &amp; Significance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Why FPM is challenging, useful, and research-relevant.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1208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Resources &amp; Setup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Hardware, software, reconstruction pipeline, and current prototype.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Goals &amp; Deliverables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Plan to achieve , hope to achieve , weekly </a:t>
            </a:r>
            <a:r>
              <a:rPr lang="en-US" sz="1050">
                <a:solidFill>
                  <a:srgbClr val="556677"/>
                </a:solidFill>
              </a:rPr>
              <a:t>schedule and results</a:t>
            </a:r>
            <a:r>
              <a:rPr lang="en-US" sz="1050" dirty="0">
                <a:solidFill>
                  <a:srgbClr val="556677"/>
                </a:solidFill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Title &amp;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3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</a:rPr>
              <a:t>Fourier Ptychographic Microscopy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solidFill>
            <a:srgbClr val="EEF4FB"/>
          </a:solidFill>
          <a:ln w="10160">
            <a:solidFill>
              <a:srgbClr val="C8D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Summary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00" dirty="0"/>
              <a:t>This project aims to build a low-cost, miniature Fourier Ptychographic Microscope using a Raspberry Pi, a standard camera module, and a programmable LED array. By capturing a sequence of images under varying illumination angles and applying a computational reconstruction algorithm, we will learn how to bypass the physical resolution limits of a lens to achieve high-resolution, wide-field-of-view digital imaging.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86100"/>
            <a:ext cx="3931920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4350" y="313817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4350" y="3464560"/>
            <a:ext cx="3618738" cy="95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45566"/>
                </a:solidFill>
              </a:rPr>
              <a:t>Traditional microscopy is limited by a trade-off where lenses cannot provide both high resolution and a wide field of view simultaneously. This project overcomes this barrier by using low-cost hardware and computational imaging to achieve sub-micron resolution across a large area in a portable, affordable format.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Expected Learning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4315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45566"/>
                </a:solidFill>
              </a:rPr>
              <a:t>This project provides hands-on experience in computational imaging by implementing phase-retrieval algorithms to synthesize high-resolution images from Fourier-domain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Background &amp; Significance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4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4864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7955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</a:rPr>
              <a:t>Why FPM is Challenging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Requires accurate LED calibration to ensure accurate illumination angles.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Reconstructions are highly sensitive to external noise, such as ambient light interference and mechanical vibrations in the 3D-printed frame.</a:t>
            </a:r>
          </a:p>
        </p:txBody>
      </p:sp>
      <p:sp>
        <p:nvSpPr>
          <p:cNvPr id="10" name="Text 8"/>
          <p:cNvSpPr/>
          <p:nvPr/>
        </p:nvSpPr>
        <p:spPr>
          <a:xfrm>
            <a:off x="685800" y="16276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>
                <a:solidFill>
                  <a:srgbClr val="445566"/>
                </a:solidFill>
              </a:rPr>
              <a:t>Exposure balancing between LEDs.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54864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</a:rPr>
              <a:t>Why FPM is Useful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2441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>
                <a:solidFill>
                  <a:srgbClr val="445566"/>
                </a:solidFill>
              </a:rPr>
              <a:t>Achieves high-definition imaging with a low-NA objective — field of view and resolution simultaneously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974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Unlike standard bright-field microscopy, FPM allows for the recovery of the sample's phase information.</a:t>
            </a:r>
          </a:p>
        </p:txBody>
      </p:sp>
      <p:sp>
        <p:nvSpPr>
          <p:cNvPr id="15" name="Text 13"/>
          <p:cNvSpPr/>
          <p:nvPr/>
        </p:nvSpPr>
        <p:spPr>
          <a:xfrm>
            <a:off x="685800" y="29535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We can computationally correct lens distortions and blurring by performing reconstructions in the Fourier domain. 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54864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</a:rPr>
              <a:t>Research Relevance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767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Building on the foundational "Frequency Stitching" methods to move toward faster, more robust phase retrieval. </a:t>
            </a:r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Combines optical physics, Python programming, and signal processing—the core pillars of modern computational sensing.</a:t>
            </a:r>
          </a:p>
        </p:txBody>
      </p:sp>
      <p:sp>
        <p:nvSpPr>
          <p:cNvPr id="20" name="Text 18"/>
          <p:cNvSpPr/>
          <p:nvPr/>
        </p:nvSpPr>
        <p:spPr>
          <a:xfrm>
            <a:off x="685800" y="4279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This setup serves as a baseline for future explorations into deep-learning-based image enhancement.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Resources &amp;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5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Hardware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740150" cy="174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Raspberry Pi  (compute + LED control)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Unicorn HAT HD — 16×16 LED matrix for angle-varying illumination.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Raspberry Pi Camera 2 Module.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3D-printed optical mount and alignment fixture.</a:t>
            </a:r>
          </a:p>
          <a:p>
            <a:pPr algn="just">
              <a:lnSpc>
                <a:spcPct val="150000"/>
              </a:lnSpc>
            </a:pPr>
            <a:endParaRPr lang="en-US" sz="105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/>
          </a:p>
          <a:p>
            <a:pPr algn="just">
              <a:lnSpc>
                <a:spcPct val="150000"/>
              </a:lnSpc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178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Software &amp; References</a:t>
            </a:r>
            <a:endParaRPr lang="en-US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749808"/>
            <a:ext cx="4023360" cy="3931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709160" y="4663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Current prototype — Raspberry Pi + Unicorn HAT HD + Camera Module on optical mount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1A57E-78B5-3444-35FE-290373445EA7}"/>
              </a:ext>
            </a:extLst>
          </p:cNvPr>
          <p:cNvSpPr txBox="1"/>
          <p:nvPr/>
        </p:nvSpPr>
        <p:spPr>
          <a:xfrm>
            <a:off x="365760" y="3209094"/>
            <a:ext cx="384048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Python(picamera2, </a:t>
            </a:r>
            <a:r>
              <a:rPr lang="en-IN" sz="1050" dirty="0" err="1"/>
              <a:t>unicornhathd</a:t>
            </a:r>
            <a:r>
              <a:rPr lang="en-IN" sz="105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Low-cost, sub-micron resolution, wide-field computational microscopy using open-source hardware by </a:t>
            </a:r>
            <a:r>
              <a:rPr lang="en-IN" sz="1050" dirty="0" err="1"/>
              <a:t>Aidukas</a:t>
            </a:r>
            <a:r>
              <a:rPr lang="en-IN" sz="1050" dirty="0"/>
              <a:t> et. 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Miniature Fourier ptychography microscope using Raspberry Pi camera and hardware by Konda et. 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Low-Cost Fourier Ptychography Microscope Kit by Guzmán et. 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Goals &amp; Deliverables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6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3931920" cy="347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9300"/>
            <a:ext cx="3749040" cy="200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Python script to automate the sequential triggering of the LED matrix and synchronized camera captures.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Implementation of a basic FPM algorithm to reconstruct a high-resolution intensity image.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Demonstrable improvement in resolution on a standard target compared to raw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 complete project webpage with assembly instructions and a basic user manual.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749808"/>
            <a:ext cx="39319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80060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7716" y="1347470"/>
            <a:ext cx="3749040" cy="164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Placement mechanism for correct and repetitive placement of slide below the camera.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Robust Denoising: Integrate software filters to computationally remove camera grain and improve SNR while preserving sample features from low-light signals.</a:t>
            </a:r>
          </a:p>
          <a:p>
            <a:pPr algn="just"/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66744" y="749808"/>
            <a:ext cx="45719" cy="33701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2BC6EC-FA8A-DBDB-E241-0C12F48D37BA}"/>
              </a:ext>
            </a:extLst>
          </p:cNvPr>
          <p:cNvSpPr txBox="1"/>
          <p:nvPr/>
        </p:nvSpPr>
        <p:spPr>
          <a:xfrm>
            <a:off x="457200" y="764524"/>
            <a:ext cx="1591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Plan to Achieve  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7E0981-1617-96C3-C61C-13660465C252}"/>
              </a:ext>
            </a:extLst>
          </p:cNvPr>
          <p:cNvSpPr txBox="1"/>
          <p:nvPr/>
        </p:nvSpPr>
        <p:spPr>
          <a:xfrm>
            <a:off x="4817716" y="781657"/>
            <a:ext cx="1911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Hope to Achieve </a:t>
            </a:r>
            <a:endParaRPr lang="en-US" sz="1600" dirty="0"/>
          </a:p>
          <a:p>
            <a:endParaRPr lang="en-I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Hardware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7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633A2-9B39-07EF-85AE-ABFB0FB2EF53}"/>
              </a:ext>
            </a:extLst>
          </p:cNvPr>
          <p:cNvSpPr txBox="1"/>
          <p:nvPr/>
        </p:nvSpPr>
        <p:spPr>
          <a:xfrm>
            <a:off x="488950" y="1060450"/>
            <a:ext cx="82804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Calibration of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to sample distance Z</a:t>
            </a:r>
            <a:r>
              <a:rPr lang="en-IN" sz="1000" dirty="0"/>
              <a:t>LED</a:t>
            </a:r>
            <a:r>
              <a:rPr lang="en-IN" sz="1600" dirty="0"/>
              <a:t>= 60.8mm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Working distance( sample to camera sensor)= 7mm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pitch=3.3mm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NA</a:t>
            </a:r>
            <a:r>
              <a:rPr lang="en-IN" sz="1100" dirty="0" err="1"/>
              <a:t>obj</a:t>
            </a:r>
            <a:r>
              <a:rPr lang="en-IN" sz="1600" dirty="0"/>
              <a:t>=0.095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Pixel size = 1.12 µm × 1.12 µm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Sensor resolution= 3280 × 2464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Magnification M =1.06 x </a:t>
            </a:r>
            <a:br>
              <a:rPr lang="en-IN" sz="1600"/>
            </a:br>
            <a:endParaRPr lang="en-IN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1F74B-F02A-5C52-AB03-E34D6E26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C463C7-407B-7031-33FB-9A22907F99CA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7C6361-11FB-2297-62E7-50DE91C7BA44}"/>
              </a:ext>
            </a:extLst>
          </p:cNvPr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Software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9CCB1D-3C4A-D159-8245-04FBC3A69F06}"/>
              </a:ext>
            </a:extLst>
          </p:cNvPr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7 / 8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11846E-4FCA-FDB0-F5F2-EF16B93091EC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E6465-72E1-BD78-608A-9371CE77BC0C}"/>
              </a:ext>
            </a:extLst>
          </p:cNvPr>
          <p:cNvSpPr txBox="1"/>
          <p:nvPr/>
        </p:nvSpPr>
        <p:spPr>
          <a:xfrm>
            <a:off x="488950" y="1060450"/>
            <a:ext cx="82804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      Pre-Processing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Dark subtract- </a:t>
            </a:r>
            <a:r>
              <a:rPr lang="en-IN" sz="1600" dirty="0"/>
              <a:t>to remove camera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distances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exposure normalisation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Demosaiced Green channel</a:t>
            </a:r>
            <a:br>
              <a:rPr lang="en-IN" sz="1600" dirty="0"/>
            </a:br>
            <a:br>
              <a:rPr lang="en-IN" sz="1600" dirty="0"/>
            </a:br>
            <a:r>
              <a:rPr lang="en-IN" sz="1600" b="1" dirty="0"/>
              <a:t>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Initialize the high-resolution complex field and pupil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Fourier Transforms for spatial-to-frequency domain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Enforce amplitude constraints using the captured LED image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Update the object spectrum and correct aberrations (EPRY)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Iterate the phase retrieval process across all LED illumination angles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Extract the final high-resolution amplitude and phase reconstructions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8336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A8A86-3E8C-ADA7-BC6F-EA642B8D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F43C15-B9A9-4013-0C5E-4136EFCC9C17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98495E-18D6-8DBF-1AAC-F16C755F7536}"/>
              </a:ext>
            </a:extLst>
          </p:cNvPr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Analysis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8532BE-6FEB-D895-70CB-89AAE6DC187D}"/>
              </a:ext>
            </a:extLst>
          </p:cNvPr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7 / 8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3F7633-9292-117B-8B7E-A9914F6D24DD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DCF13-B593-0690-22F8-BFC7654DA709}"/>
              </a:ext>
            </a:extLst>
          </p:cNvPr>
          <p:cNvSpPr txBox="1"/>
          <p:nvPr/>
        </p:nvSpPr>
        <p:spPr>
          <a:xfrm>
            <a:off x="488950" y="1060450"/>
            <a:ext cx="82804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Results Achieved</a:t>
            </a:r>
            <a:br>
              <a:rPr lang="en-IN" b="1" dirty="0"/>
            </a:br>
            <a:r>
              <a:rPr lang="en-IN" dirty="0" err="1"/>
              <a:t>NA</a:t>
            </a:r>
            <a:r>
              <a:rPr lang="en-IN" sz="1100" dirty="0" err="1"/>
              <a:t>obj</a:t>
            </a:r>
            <a:r>
              <a:rPr lang="en-IN" dirty="0"/>
              <a:t> = 0.15 </a:t>
            </a:r>
            <a:br>
              <a:rPr lang="en-IN" b="1" dirty="0"/>
            </a:br>
            <a:r>
              <a:rPr lang="en-IN" dirty="0" err="1"/>
              <a:t>NA</a:t>
            </a:r>
            <a:r>
              <a:rPr lang="en-IN" sz="1200" dirty="0" err="1"/>
              <a:t>syn</a:t>
            </a:r>
            <a:r>
              <a:rPr lang="en-IN" dirty="0"/>
              <a:t> =0.43 for green channel and 9x9 LED illumination.</a:t>
            </a:r>
            <a:br>
              <a:rPr lang="en-IN" dirty="0"/>
            </a:br>
            <a:r>
              <a:rPr lang="en-IN" dirty="0"/>
              <a:t>FOV = 3.06 mm x 2.30mm 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Potential Issue</a:t>
            </a:r>
            <a:br>
              <a:rPr lang="en-IN" dirty="0"/>
            </a:br>
            <a:r>
              <a:rPr lang="en-IN" dirty="0"/>
              <a:t>More accurate tuning of exposure</a:t>
            </a:r>
            <a:br>
              <a:rPr lang="en-IN" dirty="0"/>
            </a:br>
            <a:r>
              <a:rPr lang="en-IN" dirty="0"/>
              <a:t>Noise 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64850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5ED9A-4136-C2F2-34F7-C16A1BB6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1F77D-A798-3595-648C-57A96F75EDD3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C0360B-34C6-42B6-062C-51268765D298}"/>
              </a:ext>
            </a:extLst>
          </p:cNvPr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8899BB"/>
                </a:solidFill>
              </a:rPr>
              <a:t>Resolution Target : Input vs Reconstructed image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48DB066-42AC-E441-7DB1-3A1F6B6A2FEE}"/>
              </a:ext>
            </a:extLst>
          </p:cNvPr>
          <p:cNvSpPr/>
          <p:nvPr/>
        </p:nvSpPr>
        <p:spPr>
          <a:xfrm>
            <a:off x="984250" y="3609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Bright Field Image</a:t>
            </a:r>
            <a:endParaRPr lang="en-US" sz="8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FDACB6-867B-5675-5CA5-2A673233CAE3}"/>
              </a:ext>
            </a:extLst>
          </p:cNvPr>
          <p:cNvSpPr/>
          <p:nvPr/>
        </p:nvSpPr>
        <p:spPr>
          <a:xfrm>
            <a:off x="5665312" y="3884041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Reconstructed output</a:t>
            </a:r>
            <a:endParaRPr lang="en-US" sz="8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C289E28-FB4D-C751-446A-1F269B36F7AD}"/>
              </a:ext>
            </a:extLst>
          </p:cNvPr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5566"/>
                </a:solidFill>
              </a:rPr>
              <a:t>Chair for Computational Sensing &amp; Communications Engineering · Universität Siegen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DD1AE9-83F3-A831-2153-FACA81CB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634" y="1216881"/>
            <a:ext cx="3607116" cy="27097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A4FA23-6461-93C2-DF3C-EE9195FE0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0" y="1547876"/>
            <a:ext cx="2758440" cy="206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8899BB"/>
                </a:solidFill>
              </a:rPr>
              <a:t>Biological Specimen : Input vs Reconstructed 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27996" y="356997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Dark Field Image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8951" y="355219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Bright Field Image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38470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Reconstructed output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5566"/>
                </a:solidFill>
              </a:rPr>
              <a:t>Chair for Computational Sensing &amp; Communications Engineering · Universität Siegen</a:t>
            </a:r>
            <a:endParaRPr lang="en-US" sz="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E587B1-0405-CBC8-7065-546641AC2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37" y="1360170"/>
            <a:ext cx="3169846" cy="23812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92837C-FABE-0E3C-FAFF-8E49C493B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715" y="1668780"/>
            <a:ext cx="2352041" cy="17640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26F2AA-698A-B95F-5E0F-A6E2407E7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3" y="1677924"/>
            <a:ext cx="2407918" cy="18059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37876-5C4B-DB23-9901-A5D6B631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A1C1C5-D174-637D-4F54-BD3CE00E47D8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670EAB-004B-4DC8-CAED-C3C1AEEC3F08}"/>
              </a:ext>
            </a:extLst>
          </p:cNvPr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Schedule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4FBBB3-D220-D9AC-6656-E20B86BB21FE}"/>
              </a:ext>
            </a:extLst>
          </p:cNvPr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7 / 8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E3EAB6-9BBB-B779-ECB6-2EF4B4F51D13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3F410-4058-FB91-D8F8-B4C0C43D7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41" y="798477"/>
            <a:ext cx="7549619" cy="379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14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E29F9-A487-ECA6-56B4-95382FE6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5DA13107-B3EE-369B-9796-A294EB675CED}"/>
              </a:ext>
            </a:extLst>
          </p:cNvPr>
          <p:cNvSpPr/>
          <p:nvPr/>
        </p:nvSpPr>
        <p:spPr>
          <a:xfrm>
            <a:off x="640080" y="437515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Chair for Computational Sensing &amp; Communications Engineering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Universität Siegen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81225-595E-6835-3428-D72FE71A1874}"/>
              </a:ext>
            </a:extLst>
          </p:cNvPr>
          <p:cNvSpPr txBox="1"/>
          <p:nvPr/>
        </p:nvSpPr>
        <p:spPr>
          <a:xfrm>
            <a:off x="1530350" y="1648420"/>
            <a:ext cx="6083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1">
                    <a:lumMod val="95000"/>
                  </a:schemeClr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131264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952</Words>
  <Application>Microsoft Office PowerPoint</Application>
  <PresentationFormat>On-screen Show (16:9)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FPM Project Plan</dc:title>
  <dc:subject>PptxGenJS Presentation</dc:subject>
  <dc:creator>PptxGenJS</dc:creator>
  <cp:lastModifiedBy>Shlok Khaire</cp:lastModifiedBy>
  <cp:revision>98</cp:revision>
  <dcterms:created xsi:type="dcterms:W3CDTF">2026-05-12T15:40:10Z</dcterms:created>
  <dcterms:modified xsi:type="dcterms:W3CDTF">2026-07-20T12:47:49Z</dcterms:modified>
</cp:coreProperties>
</file>